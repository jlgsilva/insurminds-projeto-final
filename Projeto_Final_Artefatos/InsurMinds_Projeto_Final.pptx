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1642262-a9ee-4620-d401-e8b3b0cc5426}">
          <p14:sldIdLst>
            <p14:sldId id="256"/>
          </p14:sldIdLst>
        </p14:section>
        <p14:section name="Problema e ideia" id="{02798264-94a8-02e2-c6f8-0e0ca5eb18b0}">
          <p14:sldIdLst>
            <p14:sldId id="257"/>
            <p14:sldId id="258"/>
          </p14:sldIdLst>
        </p14:section>
        <p14:section name="Como trabalhei" id="{b7f0454a-c359-0e76-cd83-c8f56864c39d}">
          <p14:sldIdLst>
            <p14:sldId id="259"/>
            <p14:sldId id="260"/>
          </p14:sldIdLst>
        </p14:section>
        <p14:section name="Apólices simuladas" id="{1c5ab234-6d1e-3a5a-4e73-a8f4e3533a73}">
          <p14:sldIdLst>
            <p14:sldId id="261"/>
            <p14:sldId id="262"/>
            <p14:sldId id="263"/>
            <p14:sldId id="264"/>
            <p14:sldId id="265"/>
          </p14:sldIdLst>
        </p14:section>
        <p14:section name="Como funciona" id="{38f6956a-e83a-4e93-4a16-d8f3c39a41f1}">
          <p14:sldIdLst>
            <p14:sldId id="266"/>
            <p14:sldId id="267"/>
          </p14:sldIdLst>
        </p14:section>
        <p14:section name="Demonstração" id="{7a9a929f-01a0-f613-c2b8-83872e39e179}">
          <p14:sldIdLst>
            <p14:sldId id="268"/>
          </p14:sldIdLst>
        </p14:section>
        <p14:section name="Resultados" id="{e7e8ea03-1e72-3b4e-f30f-ab17b4d20bcf}">
          <p14:sldIdLst>
            <p14:sldId id="269"/>
            <p14:sldId id="270"/>
          </p14:sldIdLst>
        </p14:section>
        <p14:section name="Fechamento" id="{92608b1e-2a13-5572-9aaf-f0dffe36076d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2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21"/>
                </a:solidFill>
                <a:latin typeface="+mn-lt"/>
              </a:rPr>
              <a:t>Empresas e cooperativas por região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Empresas e cooperativas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Nordeste</c:v>
                  </c:pt>
                  <c:pt idx="2">
                    <c:v>Centro-Oeste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8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2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21"/>
                </a:solidFill>
                <a:latin typeface="+mn-lt"/>
              </a:rPr>
              <a:t>Acerto (%) só com regras fixas, por seguradora · 120 apólices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Valores da apólice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Atalaia</c:v>
                  </c:pt>
                  <c:pt idx="1">
                    <c:v>Ipê-Roxo</c:v>
                  </c:pt>
                  <c:pt idx="2">
                    <c:v>Jacarandá</c:v>
                  </c:pt>
                  <c:pt idx="3">
                    <c:v>Minuano (bilíngue)</c:v>
                  </c:pt>
                  <c:pt idx="4">
                    <c:v>Mutirão (linguagem simples)</c:v>
                  </c:pt>
                  <c:pt idx="5">
                    <c:v>Xique-Xique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87.1</c:v>
                </c:pt>
                <c:pt idx="3">
                  <c:v>100</c:v>
                </c:pt>
                <c:pt idx="4">
                  <c:v>99.3</c:v>
                </c:pt>
                <c:pt idx="5">
                  <c:v>98.6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Cláusulas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Atalaia</c:v>
                  </c:pt>
                  <c:pt idx="1">
                    <c:v>Ipê-Roxo</c:v>
                  </c:pt>
                  <c:pt idx="2">
                    <c:v>Jacarandá</c:v>
                  </c:pt>
                  <c:pt idx="3">
                    <c:v>Minuano (bilíngue)</c:v>
                  </c:pt>
                  <c:pt idx="4">
                    <c:v>Mutirão (linguagem simples)</c:v>
                  </c:pt>
                  <c:pt idx="5">
                    <c:v>Xique-Xique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74.5</c:v>
                </c:pt>
                <c:pt idx="1">
                  <c:v>76.7</c:v>
                </c:pt>
                <c:pt idx="2">
                  <c:v>77.2</c:v>
                </c:pt>
                <c:pt idx="3">
                  <c:v>74.2</c:v>
                </c:pt>
                <c:pt idx="4">
                  <c:v>38.3</c:v>
                </c:pt>
                <c:pt idx="5">
                  <c:v>74.8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A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[0:00] Olá, eu sou o Jefferson, e este é o meu Projeto Final do InsurMinds. Vou contar duas coisas: como eu construí este projeto, usando inteligência artificial em cada etapa, e como a aplicação funciona, mostrando ela rodando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[0:14] Primeiro, o problema. O seguro D&amp;O protege o patrimônio pessoal de diretores e conselheiros quando eles são processados por decisões tomadas na empresa ou na cooperativa. Cada apólice tem dezenas de cláusulas, cada seguradora escreve de um jeito, e a proposta mais barata pode proteger bem menos. No agro ainda entram crédito rural, meio ambiente e recuperação judicial.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[0:35] A minha proposta é um assistente que lê a apólice, mesmo escaneada, organiza as informações, compara as opções lado a lado e explica as diferenças em português simples. E eu não comecei do zero: construí isso dentro do AgroSentinela, o aplicativo do Desafio 5, que já usa dados públicos de crédito rural do Banco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[0:53] Trabalhei com três inteligências artificiais, cada uma com um papel. O Claude, da Anthropic, foi meu assistente de desenvolvimento: pesquisou referências, escreveu o código, os testes e a primeira versão deste material. A IA da Groq trabalha dentro do aplicativo: lê as apólices e escreve os relatórios. E preparei um roteiro para uma terceira IA gerar novas apólices de teste. As decisões ficaram comigo.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[1:14] Foram sete passos. Li o enunciado e decidi integrar ao Desafio 5. Defini as premissas: IA pela Groq no plano gratuito, agentes, foco rural e cuidado com modelos perto de sair do ar. Com o Claude, montei uma primeira versão. Revisei com olhar crítico, refiz a base e, no fim, testei com documentos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[1:33] Por que simular apólices? Porque apólices emitidas são confidenciais: não existe uma base pública delas para testar. Só o texto-padrão, as condições gerais, é público. Com dados simulados eu tenho o gabarito, a resposta certa, para medir quanto o sistema acerta. E tudo é declarado: marca d'água, aviso em cada página e nomes inventados.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[1:48] Na primeira versão havia 45 apólices de 12 seguradoras, mas todas no mesmo modelo de documento: só mudavam o nome e a cor. No mundo real não é assim. Pedi para refazer: o Claude pesquisou condições gerais públicas de seguradoras reais e criou seis seguradoras fictícias, cada uma com o seu jeito de escrever, uma delas até em inglês.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[2:08] Também pedi diversidade de Brasil: 120 apólices para 45 empresas e cooperativas rurais, em todos os estados, da associação de castanha no Acre ao arroz do Rio Grande do Sul. E cada região traz os seus riscos: ambiental na Amazônia, seca no semiárido, enchentes no Sul.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[2:24] Para ampliar a base, preparei um prompt para outra IA gerar novas apólices em PDF. Nada entra sem conferência: um importador verifica nomes, marca d'água e valores. Esse caminho está pronto e testado, mas ainda não foi usado.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[2:37] Na reta final, um colega me mandou cinco documentos reais: as condições gerais de D&amp;O de três seguradoras, de 50 a 100 páginas, e duas apólices de Seguro Garantia. Esse teste mostrou o que a simulação escondia: a IA só via o começo dos documentos longos, e uma apólice de outro ramo entraria como se fosse D&amp;O. Corrigimos: agora o sistema reconhece o tipo de documento, recusa o que não é D&amp;O e manda para a IA os trechos certos de cada cláusula. Os documentos reais ficaram fora do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[3:04] Por dentro, o aplicativo é uma linha de montagem com dez agentes, cada um com uma tarefa. Os dourados usam IA: ler a ficha, entender as cláusulas, escrever o relatório e responder perguntas. Notas e contas ficam com regras fixas, mais fáceis de conferir.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[—] (Slide de apoio, sem narração: se sobrar tempo, diga que a IA precisa citar o trecho que leu e que o sistema confere cada trecho e cada número.)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[3:17] Agora vou mostrar o aplicativo funcionando. (Troque para o navegador com o app aberto e siga o roteiro da demonstração.)
DEMO 1 [3:19] Página Ingestão de Apólices: Mantenha a sugestão (uma apólice da Ipê-Roxo em PDF e uma digitalizada da Mutirão) e clique Executar pipeline de ingestão. Mostre os agentes aparecendo, depois role até a tabela de cláusulas.
Fala: Aqui eu escolho duas apólices bem diferentes: uma da Ipê-Roxo e uma escaneada da Mutirão, escrita em linguagem simples. Clico em executar e cada agente aparece trabalhando. O documento escaneado passa pela leitura de imagem. No resultado, cada cláusula vem com o nível de cobertura e o trecho que comprova.
DEMO 2 [3:47] Página Comparador de Apólices: Tomadora sugerida Grão Norte Trading (4 cotações), relatório para Gestor de riscos, clique Comparar. Mostre as abas Relatório, Diferenças e Perfil da tomadora.
Fala: Agora comparo as quatro propostas que a Grão Norte, uma trading de Sorriso, no Mato Grosso, recebeu. O sistema usa os dados de crédito rural da região para dar mais peso ao que importa ali, como a defesa ambiental. A IA escreve o relatório e um verificador confere cada número.
DEMO 3 [4:12] Página Consulta às Apólices: Clique na sugestão “Qual seguradora oferece, em média, a melhor cobertura para crédito rural?”. Abra o detalhe da ferramenta usada.
Fala: Por fim, uma pergunta em português: qual seguradora oferece a melhor cobertura para crédito rural? O agente escolhe onde procurar, consulta a base e mostra a tabela que usou.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[4:30] Quanto o sistema acerta? No acervo simulado, as regras fixas leem bem os valores, 96%, mas acertam só 69% do nível das cláusulas, e 38% no documento em linguagem simples. Nas condições gerais reais, encontram 83% das cláusulas. Classificar o nível é a parte que depende da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[4:45] O que eu aprendi: a IA acelerou muito, mas foi a revisão humana e o teste com documentos reais que deixaram o projeto confiável. E é uma ferramenta de apoio: não substitui o corretor nem o advogado.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[4:56] O código é aberto e o link está no material.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nstração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AgroSentinela · Projeto Final InsurMinds/I2A2 · apólices simuladas, nomes fictícios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Comparar o seguro dos dirigentes do agro, com ajuda de inteligência artificial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Projeto Final InsurMinds / I2A2 · como eu construí e como funciona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Jefferson Luiz Gonçalves Silva · outubro de 2026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Um seguro importante, que quase ninguém consegue comparar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9110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 que é o seguro D&amp;O?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375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Protege o patrimônio pessoal de diretores e conselheiros quando são processados por decisões tomadas na empresa ou na cooperativa.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D&amp;O = Directors and Officers (dirigentes)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1481328"/>
            <a:ext cx="777240" cy="7772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18" y="1667866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Letras miúdas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18470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apólice tem de 20 a 40 cláusulas, em linguagem jurídica.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669280" y="2697480"/>
            <a:ext cx="777240" cy="7772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818" y="2884018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75120" y="26334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Cada seguradora escreve de um jeito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675120" y="3063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mesma cobertura muda de nome, de lugar e de redação.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669280" y="3913632"/>
            <a:ext cx="777240" cy="7772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818" y="4100170"/>
            <a:ext cx="404165" cy="40416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0" y="38496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mais barata pode proteger menos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675120" y="4279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 diferenças que pesam num processo ficam escondidas no texto.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669280" y="5129784"/>
            <a:ext cx="777240" cy="7772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818" y="5316322"/>
            <a:ext cx="404165" cy="40416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675120" y="50657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agro, riscos próprios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675120" y="54955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Crédito rural e Proagro, meio ambiente, recuperação judicial.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ideia: um assistente que lê, organiza, compara e explica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Lê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PDF, documento escaneado ou foto da apólice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Organiza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Valores e 32 tipos de cláusula numa base de dados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Compara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Lado a lado, com as lacunas de cobertura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0" y="1463040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Explica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Relatório em português e respostas a perguntas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16916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900123"/>
            <a:ext cx="451714" cy="45171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0" y="16916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083" y="1900123"/>
            <a:ext cx="451714" cy="45171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492240" y="16916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723" y="1900123"/>
            <a:ext cx="451714" cy="45171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326880" y="16916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5363" y="1900123"/>
            <a:ext cx="451714" cy="45171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29200"/>
            <a:ext cx="640080" cy="6400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783080" y="47091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Não comecei do zero.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projeto é um módulo novo do AgroSentinela, o app que fiz no Desafio 5, que já usa dados públicos de crédito rural e do Proagro (Banco Central). Uma ferramenta só: do alerta de risco no campo ao seguro de quem dirige a empresa.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Três IAs, três papéis — e as decisões ficaram comigo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914400" cy="91440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9568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Eu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Direção e revisão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Defini as premissas, revisei cada entrega, critiquei o que não estava realista e decidi o que entrava.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1737360"/>
            <a:ext cx="914400" cy="914400"/>
          </a:xfrm>
          <a:prstGeom prst="ellipse">
            <a:avLst/>
          </a:prstGeom>
          <a:solidFill>
            <a:srgbClr val="3E6E8E"/>
          </a:solidFill>
          <a:ln w="12700">
            <a:solidFill>
              <a:srgbClr val="3E6E8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19568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Claude (Anthropic)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Assistente de desenvolvimento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40233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Pesquisou referências, escreveu o código, os testes, a documentação e a primeira versão desta apresentação.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17920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92240" y="1737360"/>
            <a:ext cx="914400" cy="9144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95681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92240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IA da Groq (GPT-OSS)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Dentro do aplicativo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40233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Lê as apólices, preenche a ficha, entende as cláusulas, escreve relatórios e responde perguntas.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9052560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26880" y="1737360"/>
            <a:ext cx="914400" cy="914400"/>
          </a:xfrm>
          <a:prstGeom prst="ellipse">
            <a:avLst/>
          </a:prstGeom>
          <a:solidFill>
            <a:srgbClr val="6B7D72"/>
          </a:solidFill>
          <a:ln w="12700">
            <a:solidFill>
              <a:srgbClr val="6B7D7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1956816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Outra IA, à escolha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Para ampliar a base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40233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Recebe um roteiro pronto (prompt) para gerar novas apólices simuladas em PDF.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6868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Na prática: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eu descrevia em português o que queria; o Claude implementava e mostrava o resultado; eu revisava e pedia ajustes.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Como o trabalho aconteceu, passo a passo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2148840"/>
            <a:ext cx="9692640" cy="0"/>
          </a:xfrm>
          <a:prstGeom prst="line">
            <a:avLst/>
          </a:prstGeom>
          <a:noFill/>
          <a:ln w="38100">
            <a:solidFill>
              <a:srgbClr val="A9C9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737360"/>
            <a:ext cx="822960" cy="822960"/>
          </a:xfrm>
          <a:prstGeom prst="ellipse">
            <a:avLst/>
          </a:prstGeom>
          <a:solidFill>
            <a:srgbClr val="1F7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522476" cy="3017520"/>
          </a:xfrm>
          <a:prstGeom prst="roundRect">
            <a:avLst>
              <a:gd name="adj" fmla="val 72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Ler o enunciado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749040"/>
            <a:ext cx="1298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Decidi não começar do zero: integrar ao app do Desafio 5.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00884" y="1737360"/>
            <a:ext cx="822960" cy="822960"/>
          </a:xfrm>
          <a:prstGeom prst="ellipse">
            <a:avLst/>
          </a:prstGeom>
          <a:solidFill>
            <a:srgbClr val="1F7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0884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153412" y="2788920"/>
            <a:ext cx="1522476" cy="3017520"/>
          </a:xfrm>
          <a:prstGeom prst="roundRect">
            <a:avLst>
              <a:gd name="adj" fmla="val 72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2284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Definir premissas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72284" y="3749040"/>
            <a:ext cx="1298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 pela Groq (plano gratuito), agentes, foco rural, modelos sem data de saída próxima.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05656" y="1737360"/>
            <a:ext cx="822960" cy="822960"/>
          </a:xfrm>
          <a:prstGeom prst="ellipse">
            <a:avLst/>
          </a:prstGeom>
          <a:solidFill>
            <a:srgbClr val="1F7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05656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758184" y="2788920"/>
            <a:ext cx="1522476" cy="3017520"/>
          </a:xfrm>
          <a:prstGeom prst="roundRect">
            <a:avLst>
              <a:gd name="adj" fmla="val 72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77056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Construir com o Claude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77056" y="3749040"/>
            <a:ext cx="1298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versão completa: app, 45 apólices simuladas, relatório e apresentação.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10428" y="1737360"/>
            <a:ext cx="822960" cy="822960"/>
          </a:xfrm>
          <a:prstGeom prst="ellipse">
            <a:avLst/>
          </a:prstGeom>
          <a:solidFill>
            <a:srgbClr val="B03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0428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362956" y="2788920"/>
            <a:ext cx="1522476" cy="3017520"/>
          </a:xfrm>
          <a:prstGeom prst="roundRect">
            <a:avLst>
              <a:gd name="adj" fmla="val 720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1828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Revisar com olhar crítico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1828" y="3749040"/>
            <a:ext cx="1298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“Apólices de empresas diferentes não seguem o mesmo modelo.”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1737360"/>
            <a:ext cx="822960" cy="822960"/>
          </a:xfrm>
          <a:prstGeom prst="ellipse">
            <a:avLst/>
          </a:prstGeom>
          <a:solidFill>
            <a:srgbClr val="1F7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967728" y="2788920"/>
            <a:ext cx="1522476" cy="3017520"/>
          </a:xfrm>
          <a:prstGeom prst="roundRect">
            <a:avLst>
              <a:gd name="adj" fmla="val 72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86600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Refazer a base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749040"/>
            <a:ext cx="1298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seguradoras, 120 apólices, todas as regiões.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19972" y="1737360"/>
            <a:ext cx="822960" cy="822960"/>
          </a:xfrm>
          <a:prstGeom prst="ellipse">
            <a:avLst/>
          </a:prstGeom>
          <a:solidFill>
            <a:srgbClr val="B03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19972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6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8572500" y="2788920"/>
            <a:ext cx="1522476" cy="3017520"/>
          </a:xfrm>
          <a:prstGeom prst="roundRect">
            <a:avLst>
              <a:gd name="adj" fmla="val 720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91372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Testar com docs reais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91372" y="3749040"/>
            <a:ext cx="1298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documentos enviados por um colega mostraram falhas novas.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524744" y="1737360"/>
            <a:ext cx="822960" cy="822960"/>
          </a:xfrm>
          <a:prstGeom prst="ellipse">
            <a:avLst/>
          </a:prstGeom>
          <a:solidFill>
            <a:srgbClr val="1F7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24744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7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10177272" y="2788920"/>
            <a:ext cx="1522476" cy="3017520"/>
          </a:xfrm>
          <a:prstGeom prst="roundRect">
            <a:avLst>
              <a:gd name="adj" fmla="val 72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96144" y="2926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Medir e publicar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296144" y="3749040"/>
            <a:ext cx="1298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Gabaritos, 204 testes automáticos, GitHub e Streamlit.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Por que simular apólices em vez de usar reais?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6751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90012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Apólices emitidas são confidenciais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0391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Trazem dados de empresas, pessoas e valores. Só as condições gerais (texto-padrão) são públicas.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66751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2918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" y="350032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6596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Simulação tem gabarito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965960" y="3639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Sei a resposta certa de cada apólice e posso medir quanto o sistema acerta, como numa prova corrigida.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4617720"/>
            <a:ext cx="66751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8920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510052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6596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Cobre o Brasil inteiro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965960" y="52395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Dá para montar cenários de todas as regiões e portes, que uma amostra real pequena não teria.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498080" y="1417320"/>
            <a:ext cx="4114800" cy="4617720"/>
          </a:xfrm>
          <a:prstGeom prst="roundRect">
            <a:avLst>
              <a:gd name="adj" fmla="val 2667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69164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595360" y="1737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Tudo declarado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7818120" y="25603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Marca d'água “USO ACADÊMICO” em todas as páginas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Aviso de documento simulado no topo e no rodapé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Seguradoras, empresas, CNPJs e valores inventados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Nenhuma empresa real é imitada: um nome que coincidia com uma seguradora real foi trocado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revisão que mudou o projeto: antes e depois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ANTES · 1ª versão</a:t>
            </a:r>
            <a:endParaRPr lang="en-US" sz="1600" dirty="0"/>
          </a:p>
        </p:txBody>
      </p:sp>
      <p:pic>
        <p:nvPicPr>
          <p:cNvPr id="4" name="Image 0" descr="/root/insurminds-projeto-final/Projeto_Final_Artefatos/capturas/v1_modelo_un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212080" cy="2377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062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45 apólices e 12 nomes de seguradora, mas um único modelo de documento: só mudavam o nome e a cor.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52120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1206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mesmo valor, quatro jeitos de escrever: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R$ 5.000.000,00 · R$ 5 milhões · BRL 5,000,000.00 · cinco milhões de reais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DEPOIS · 2ª versão</a:t>
            </a:r>
            <a:endParaRPr lang="en-US" sz="1600" dirty="0"/>
          </a:p>
        </p:txBody>
      </p:sp>
      <p:pic>
        <p:nvPicPr>
          <p:cNvPr id="9" name="Image 1" descr="/root/insurminds-projeto-final/Projeto_Final_Artefatos/capturas/modelos_docum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486400" cy="34381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2648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seguradoras fictícias, cada uma com o seu jeito: numeração, ordem, vocabulário, perguntas e respostas, até em inglês. Estrutura inspirada em condições gerais públicas (AIG, Allianz, Tokio Marine, Sompo), sem copiar texto.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vários Brasis rurais dentro da 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apólices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371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seguradoras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371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empresas e cooperativas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1371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25 + DF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estados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78892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303520" y="2788920"/>
            <a:ext cx="6309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77840" y="2926080"/>
            <a:ext cx="5806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Norte: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castanha em Xapuri (AC), açaí em Cametá (PA). Pesa o risco ambiental.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Nordeste: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mel em Picos (PI), frutas irrigadas em Petrolina (PE). Pesa a seca.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Centro-Oeste: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trading de grãos em Sorriso (MT), pecuária no Pantanal.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Sudeste: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café em Três Pontas (MG), queijo artesanal no Serro (MG).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arroz em Uruguaiana (RS), crédito cooperativo em Chapecó (SC).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Do pequeno ao grande: limite de R$ 500 mil (cooperativa familiar) a R$ 160 milhões (agroindústria).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Usar outra IA para ampliar a base, sem perder o controle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9260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90012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Prompt pronto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Regras: só nomes fictícios, marca d'água, regiões, 32 tipos de cláusula, gabarito.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08960" y="2926080"/>
            <a:ext cx="228600" cy="0"/>
          </a:xfrm>
          <a:prstGeom prst="line">
            <a:avLst/>
          </a:prstGeom>
          <a:noFill/>
          <a:ln w="25400">
            <a:solidFill>
              <a:srgbClr val="6B7D7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83280" y="1463040"/>
            <a:ext cx="2514600" cy="29260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16916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083" y="190012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Outra IA gera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2004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Novas apólices em PDF e o gabarito de cada uma.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43600" y="2926080"/>
            <a:ext cx="228600" cy="0"/>
          </a:xfrm>
          <a:prstGeom prst="line">
            <a:avLst/>
          </a:prstGeom>
          <a:noFill/>
          <a:ln w="25400">
            <a:solidFill>
              <a:srgbClr val="6B7D72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217920" y="14630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92240" y="16916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723" y="190012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9224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Importador confere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32004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Nome de empresa real? Marca d'água? Datas e valores coerentes? Códigos válidos?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778240" y="2926080"/>
            <a:ext cx="228600" cy="0"/>
          </a:xfrm>
          <a:prstGeom prst="line">
            <a:avLst/>
          </a:prstGeom>
          <a:noFill/>
          <a:ln w="25400">
            <a:solidFill>
              <a:srgbClr val="6B7D72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9052560" y="1463040"/>
            <a:ext cx="2514600" cy="29260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26880" y="169164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5363" y="1900123"/>
            <a:ext cx="451714" cy="45171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Entra na base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2004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 passa a fazer parte da medição de acerto.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74920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783080" y="47548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Sendo transparente: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prompt e o importador estão prontos e cobertos por testes automáticos, mas ainda não foram usados. As 120 apólices atuais foram geradas por um programa que escrevi com o Claude.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teste com documentos reais: o que quebrou e o que mudou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434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 documentos reais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3 condições gerais de D&amp;O: AXA (104 p.), Allianz (75 p.) e Porto (52 p.)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 apólices de Seguro Garantia, outro ramo, com dados de terceiros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Enviados por um colega; ficaram fora do GitHub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0" y="1645920"/>
            <a:ext cx="822960" cy="82296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18434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 teste revelou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20040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IA só via o começo dos documentos longos: cerca de 6% do texto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Um Seguro Garantia entraria na base como se fosse D&amp;O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Sumário e glossário confundiam a leitura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2480" y="1645920"/>
            <a:ext cx="822960" cy="82296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18434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Depois das correções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Trechos-chave que chegam à IA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5295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5%</a:t>
            </a:r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56%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4096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Outro ramo recusado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44256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0 de 2</a:t>
            </a:r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 de 2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4992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Cláusulas encontradas (regras)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5321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64%</a:t>
            </a:r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83%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080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Gabarito dos documentos reais anotado com apoio de IA e conferido por script; os níveis precisam de revisão de especialista. Medido nos mesmos documentos usados para ajustar o sistema.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Por dentro do app: uma linha de montagem de 10 agentes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LER A APÓLICE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77440" y="13716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50592" y="137160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Recebe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13632" y="13716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86784" y="137160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Lê o texto (e a foto)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49824" y="13716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22976" y="137160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Preenche a ficha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86016" y="13716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59168" y="137160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Entende as cláusulas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22208" y="13716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0" y="137160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Confere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0" y="13716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31552" y="137160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Guarda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COMPARAR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77440" y="260604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50592" y="260604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Perfil da região (dados do BCB)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68112" y="260604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41264" y="260604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Compara e dá nota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58784" y="260604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31936" y="260604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Escreve o relatório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PERGUNTAR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377440" y="384048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50592" y="3840480"/>
            <a:ext cx="4425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Responde perguntas consultando a base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416052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26680" y="4142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usa IA (Groq)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81160" y="416052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92640" y="4142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regras fixas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Por que nem tudo é IA?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IA é ótima para ler textos escritos de jeitos diferentes e para escrever. Notas, contas e comparações ficam com regras fixas: sempre dão o mesmo resultado e podem ser conferidas. Modelos: GPT-OSS na Groq; os Llama 3 usados antes saíram do plano gratuito.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Como evitamos que a IA invente coisas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9458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Respostas em formato fechado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240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 cada cláusula, a IA só pode escolher: ampla, padrão, restrita, ausente ou excluída.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73736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194584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Prova do que leu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2240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resposta cita o trecho do documento. O sistema confere se o trecho existe mesmo.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11480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43232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Números conferidos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617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Limite, preço e franquia são checados no texto da apólice. Em caso de dúvida, vale o documento.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172200" y="379476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46520" y="4114800"/>
            <a:ext cx="868680" cy="8686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32328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Relatório auditado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543800" y="4617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Todo número citado no relatório precisa existir nos dados. Se não existir, aparece um alerta.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Agora, o aplicativo funcionando</a:t>
            </a:r>
            <a:endParaRPr lang="en-US" sz="3200" dirty="0"/>
          </a:p>
        </p:txBody>
      </p:sp>
      <p:pic>
        <p:nvPicPr>
          <p:cNvPr id="3" name="Image 0" descr="/root/insurminds-projeto-final/Projeto_Final_Artefatos/capturas/02_ingestao_result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520440" cy="24323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92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Duas apólices bem diferentes: uma da Ipê-Roxo e uma escaneada da Mutirão</a:t>
            </a:r>
            <a:endParaRPr lang="en-US" sz="1500" dirty="0"/>
          </a:p>
        </p:txBody>
      </p:sp>
      <p:pic>
        <p:nvPicPr>
          <p:cNvPr id="8" name="Image 1" descr="/root/insurminds-projeto-final/Projeto_Final_Artefatos/capturas/07b_diferenc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63040"/>
            <a:ext cx="3520440" cy="24323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97680" y="4114800"/>
            <a:ext cx="640080" cy="6400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2976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Comparar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4892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As 4 propostas da Grão Norte, trading de Sorriso (MT)</a:t>
            </a:r>
            <a:endParaRPr lang="en-US" sz="1500" dirty="0"/>
          </a:p>
        </p:txBody>
      </p:sp>
      <p:pic>
        <p:nvPicPr>
          <p:cNvPr id="13" name="Image 2" descr="/root/insurminds-projeto-final/Projeto_Final_Artefatos/capturas/09_consul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63040"/>
            <a:ext cx="3520440" cy="243230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46720" y="4114800"/>
            <a:ext cx="640080" cy="6400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0467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886968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Perguntar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046720" y="4892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“Qual seguradora tem a melhor cobertura para crédito rural?”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Quanto o sistema acerta, medido contra o gabarito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25880"/>
            <a:ext cx="4023360" cy="484632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18120" y="1508760"/>
            <a:ext cx="3611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Como ler o gráfico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 com regras fixas, o sistema lê bem os valores: 96% no total.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Mas acerta só 69% das cláusulas, e 38% no documento em linguagem simples, que não usa os termos técnicos.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Nas 3 condições gerais reais: 83% das cláusulas encontradas.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 a IA: a mesma régua mede a leitura pela Groq. Na demonstração, a aba “Qualidade da extração” mostra a conferência ao vivo.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aprendi, os limites e os 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Aprendi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IA acelera muito, mas foi a revisão humana que deixou o projeto realista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Documento real mostra o que a simulação esconde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IA para ler e escrever; regras para decidir e calcular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645920"/>
            <a:ext cx="777240" cy="77724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83245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Limites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9748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Teste real ainda pequeno: 3 condições gerais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Plano gratuito da Groq limita a velocidade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Ferramenta de apoio: não substitui corretor nem advogado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645920"/>
            <a:ext cx="777240" cy="777240"/>
          </a:xfrm>
          <a:prstGeom prst="ellipse">
            <a:avLst/>
          </a:prstGeom>
          <a:solidFill>
            <a:srgbClr val="3E6E8E"/>
          </a:solidFill>
          <a:ln w="12700">
            <a:solidFill>
              <a:srgbClr val="3E6E8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78" y="183245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8116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Próximos passos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9748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Testar com apólices D&amp;O emitidas, com autorização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Gerar novos lotes com outra IA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Ajustar os pesos ouvindo corretores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Obrigado!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github.com/jlgsilva/insurminds-projeto-final · código aberto, licença MIT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Feito com Python, Streamlit, Groq (GPT-OSS), Tesseract e dados públicos do Banco Central.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Desenvolvido com apoio do Claude (Anthropic). Acervo de demonstração simulado; validado também em 5 documentos reais.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oSentinela">
  <a:themeElements>
    <a:clrScheme name="AgroSentinela">
      <a:dk1>
        <a:srgbClr val="1B2A21"/>
      </a:dk1>
      <a:lt1>
        <a:srgbClr val="FFFFFF"/>
      </a:lt1>
      <a:dk2>
        <a:srgbClr val="1F4D36"/>
      </a:dk2>
      <a:lt2>
        <a:srgbClr val="EEF3EE"/>
      </a:lt2>
      <a:accent1>
        <a:srgbClr val="1F7A4D"/>
      </a:accent1>
      <a:accent2>
        <a:srgbClr val="D9A441"/>
      </a:accent2>
      <a:accent3>
        <a:srgbClr val="3E6E8E"/>
      </a:accent3>
      <a:accent4>
        <a:srgbClr val="B03A2E"/>
      </a:accent4>
      <a:accent5>
        <a:srgbClr val="6B7D72"/>
      </a:accent5>
      <a:accent6>
        <a:srgbClr val="A9C9AE"/>
      </a:accent6>
      <a:hlink>
        <a:srgbClr val="1F7A4D"/>
      </a:hlink>
      <a:folHlink>
        <a:srgbClr val="3E6E8E"/>
      </a:folHlink>
    </a:clrScheme>
    <a:fontScheme name="AgroSentinel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InsurMinds / I2A2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InsurMinds — Projeto Final — como construí e como funciona</dc:title>
  <dc:subject>PptxGenJS Presentation</dc:subject>
  <dc:creator>Jefferson Luiz Gonçalves Silva</dc:creator>
  <cp:lastModifiedBy>Jefferson Luiz Gonçalves Silva</cp:lastModifiedBy>
  <cp:revision>1</cp:revision>
  <dcterms:created xsi:type="dcterms:W3CDTF">2026-10-07T00:49:29Z</dcterms:created>
  <dcterms:modified xsi:type="dcterms:W3CDTF">2026-10-07T00:49:29Z</dcterms:modified>
</cp:coreProperties>
</file>